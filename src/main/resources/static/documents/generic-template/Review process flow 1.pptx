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60" r:id="rId5"/>
    <p:sldId id="259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C969-B20F-4F44-B77F-0C207E0A46EE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4ADCD-952C-4996-93AE-9256A5CB8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16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4ADCD-952C-4996-93AE-9256A5CB89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DD4E-A09A-8210-ECF8-14A0A2805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76EA8-3E43-5A90-D480-D5D6EFE4B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C54F0-23EE-9CCB-50D6-2BACB75C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E9B89-1E99-0CFD-B87D-66761C8D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A161-55A9-45F4-FD87-38CF1ED3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5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6EC6-FE00-A01E-D148-C09DE2CB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7375-A49A-9D5E-F141-E4FA1F19B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4F9C-8B98-4570-34A9-3D5FB9831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DEC01-2687-C40C-E15A-EB0F6131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DD011-BB11-427A-E90A-AEDD6828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5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ADFA1-B6DB-BAFF-63B7-9116793D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E443D-E5C3-1978-328F-25A35756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DA328-50B5-40CD-A9BA-76D2DA43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5C0AF-0E9C-AD26-0FA9-1F625C06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CA780-E684-A6B9-99CE-0BBE8BA6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9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AAD0-CE22-3EEF-CC8F-2B27F2D3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0E01A-6804-B576-9000-CCD3D1E51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49814-52FD-777C-CB37-BDC54BCA8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917F8-5835-5992-02F7-168AB48F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3EAF2-0D00-1AE1-3170-A25176FF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2C6DE-3FC2-6FDC-6998-76C96E25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0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ABA1-926B-B0D4-E41D-937033AD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21616-03C6-51A6-452E-09574D3D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B162-9ECE-F32E-613E-6EBCFB537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1CD89-0FB2-16A2-C774-BE0DB0A9B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F8B89-AA4C-1235-49B0-8D8EEB627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A2B8B-8B9B-7F0B-E734-1308401A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31664-F411-E21E-521B-F8F7E6FD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447FB-78E4-7C9A-4AC8-B08406C0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6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2008-61E8-7EC3-26A2-D0EAC2C5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95C21-7546-E695-6846-C96A0BE1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24783-5EC7-6E9E-6C4E-8F47001A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7748F-8E4B-0C65-B0EE-7B135959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3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0E23E0-41BA-EB90-297E-3D479BC7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C7236-B5AF-59BB-3E32-DA4D83B7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0C79D-D3DE-B7CB-E264-AEBEE7DD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6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8733-F3DF-F5F0-A333-C1D6E840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52D44-1995-5FF4-61A6-EF1D2684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9AC09-2201-CBE8-9D47-75A49CF44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001F-E630-65D2-E31F-7417381E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C77B-FE69-5885-A85D-5E9805EC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7111D-E7AE-A09C-28F0-C910C181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1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1BF2-ACA3-AE57-BCFF-6A6E88B6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13040-8509-7F5F-ECC2-E2034BBBC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C7DBF-E6A6-98A9-966D-1AAF3358E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36021-9432-13D2-FDF2-972A7C06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DC374-9F63-4AB2-74B2-7EA06CD6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3B3A5-BFC6-61D4-8C6D-4951720E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6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0882-3BC9-FBF6-4B73-7275185B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3E07A-8C3D-3571-498F-50FFA59A4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8127F-3A1E-6559-7216-6DA82A8B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1ABFB-FB88-B949-6958-913D7D56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49851-85EB-8EFA-9364-54531CD06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7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E6EFB-093D-0C78-36FB-FC165ECF7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16E00-DB36-5C3A-F59F-CD8A2603F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98D7-38FB-4D8A-4630-92458F9D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1639D-24A0-5932-2964-37C8EC64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2979A-AF28-CAAF-76CB-FE29E3E2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06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0221" y="175018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1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9656C-DD52-075F-A1E8-7321A28E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DC895-DB8A-8C57-2AC7-57FBBF1B9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24849-D9CF-5D60-410C-7D3E4D193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D0DF5-CBE7-4E69-925E-91B7B68570A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C7A6C-B12D-AF88-808D-F6D2D92AD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D0A8E-DE66-EDDF-9B24-C8656E9CD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B0378-5371-4D46-875F-551ADA4E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5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astsoftware20.sharepoint.com/:x:/s/IASTSoftwareSolutionsPvtLtd/EfdMfao7eAtNvYbk1AYMnKYBuc5LDJajQL96FYfURnjK4Q?e=ucgSAV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astsoftware20.sharepoint.com/:b:/s/IASTSoftwareSolutionsPvtLtd/EXVoUWOede5EuEsx5zTeqksBQGnN5VupEtjJX7pC83ZgoA?e=uaGDU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754" y="2831339"/>
            <a:ext cx="9593446" cy="22414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Guidelines for Review Process</a:t>
            </a:r>
            <a:br>
              <a:rPr lang="en-US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Author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  <a:cs typeface="Calibri Light"/>
              </a:rPr>
              <a:t>Purvi Sahu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Quality Engineer, Central Engineering Department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6D17-C72E-342F-1C4A-35F0CFE8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0"/>
            <a:ext cx="10515600" cy="1325563"/>
          </a:xfrm>
        </p:spPr>
        <p:txBody>
          <a:bodyPr/>
          <a:lstStyle/>
          <a:p>
            <a:r>
              <a:rPr lang="en-US" u="sng" dirty="0"/>
              <a:t>Guideline for Review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8AB5-9065-F160-976C-B6D9DB1F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1317626"/>
            <a:ext cx="10515600" cy="4937125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After the cross-functional team reviewed any work item, it will come to Independent/ External Review for final review.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There shall be atleast 2 expert reviewers for reviewing any work item (Document/ REQ/ Architecture, Integration etc.)</a:t>
            </a:r>
            <a:r>
              <a:rPr lang="en-US" sz="18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 include all the phases</a:t>
            </a:r>
          </a:p>
          <a:p>
            <a:r>
              <a:rPr lang="en-US" sz="18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[PM]Author must provide all the necessary links and artifacts for review of the work item.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Work items shall be baselined before sharing for review. 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There must be some proper timeline for entire review process (minimum 3-4 days) which shall be mentioned by Author while requesting for review to all the reviewers via mail.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[PM]Review process timeline will depend on the type of the work item and its sub modules/sections and author may not be     knowing the estimation for review/rework.() Review task estimation shall be done with support from architect or team lead.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Review findings shall be maintained in Review record template or in Polarion which can be referred by Author for re-work.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   Link for Review Record template: 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1319_Review_Record_ProjectName.xlsx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Review checklist required for each work item, before sending any work product for review, the author shall update review checklist.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[PM]Is there any standard review checklist for each Document/REQ/Architecture, DD, code, UT, IT SW Qualification tests </a:t>
            </a:r>
            <a:r>
              <a:rPr lang="en-US" sz="180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8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if not project specific review checklist can be created/used.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While approving any work item, the approver must provide the rationale for approving.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Once all the reviewers approved the work item, the Author shall share that work item to Quality team for  verification via mail.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After getting approval from Quality team, the Author shall create release note &amp; share it to Project Manager/ Team Lead, </a:t>
            </a:r>
            <a:r>
              <a:rPr lang="en-US" sz="1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the Project Manager/Team Lead approved then the Module Owner shall update the status of work item as “Released” State.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765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AFD21-2FD4-97F2-E9A8-D014B267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07C3C4-FA57-7D34-630D-55516720243B}"/>
              </a:ext>
            </a:extLst>
          </p:cNvPr>
          <p:cNvSpPr/>
          <p:nvPr/>
        </p:nvSpPr>
        <p:spPr>
          <a:xfrm>
            <a:off x="9748752" y="5797559"/>
            <a:ext cx="2127623" cy="8220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C11558-90B8-6437-C876-481A1E36257B}"/>
              </a:ext>
            </a:extLst>
          </p:cNvPr>
          <p:cNvSpPr/>
          <p:nvPr/>
        </p:nvSpPr>
        <p:spPr>
          <a:xfrm>
            <a:off x="4337832" y="71881"/>
            <a:ext cx="1275126" cy="485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Draft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9A9E26-3ACB-BC31-9532-996250760094}"/>
              </a:ext>
            </a:extLst>
          </p:cNvPr>
          <p:cNvSpPr/>
          <p:nvPr/>
        </p:nvSpPr>
        <p:spPr>
          <a:xfrm>
            <a:off x="6806130" y="3872831"/>
            <a:ext cx="1275126" cy="520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Approved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045D6-0E8A-6BA9-CB6B-A186E5436E98}"/>
              </a:ext>
            </a:extLst>
          </p:cNvPr>
          <p:cNvSpPr/>
          <p:nvPr/>
        </p:nvSpPr>
        <p:spPr>
          <a:xfrm>
            <a:off x="8710488" y="3860268"/>
            <a:ext cx="1275126" cy="520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Released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41E681-4131-AD05-EA64-76296563F186}"/>
              </a:ext>
            </a:extLst>
          </p:cNvPr>
          <p:cNvSpPr/>
          <p:nvPr/>
        </p:nvSpPr>
        <p:spPr>
          <a:xfrm>
            <a:off x="6826835" y="4659996"/>
            <a:ext cx="1275126" cy="520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Rejected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CFC09F-42B1-C5CF-0F43-C5D42759854B}"/>
              </a:ext>
            </a:extLst>
          </p:cNvPr>
          <p:cNvSpPr/>
          <p:nvPr/>
        </p:nvSpPr>
        <p:spPr>
          <a:xfrm>
            <a:off x="6826835" y="5447161"/>
            <a:ext cx="1275126" cy="520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Deferred/</a:t>
            </a:r>
          </a:p>
          <a:p>
            <a:pPr algn="ctr"/>
            <a:r>
              <a:rPr lang="en-US" sz="1600" dirty="0"/>
              <a:t>On-hold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CAA5A0-6315-86E3-C3F8-D0D15F21A718}"/>
              </a:ext>
            </a:extLst>
          </p:cNvPr>
          <p:cNvCxnSpPr>
            <a:cxnSpLocks/>
          </p:cNvCxnSpPr>
          <p:nvPr/>
        </p:nvCxnSpPr>
        <p:spPr>
          <a:xfrm>
            <a:off x="5856834" y="4110845"/>
            <a:ext cx="949296" cy="16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F7FF90-2378-DA26-B51D-E415A08EC865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8081256" y="4127316"/>
            <a:ext cx="629232" cy="5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DD9C88D-297B-8460-3922-78966EC74064}"/>
              </a:ext>
            </a:extLst>
          </p:cNvPr>
          <p:cNvSpPr/>
          <p:nvPr/>
        </p:nvSpPr>
        <p:spPr>
          <a:xfrm>
            <a:off x="1852940" y="3864200"/>
            <a:ext cx="1275126" cy="520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Re-work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C1244C-BDC9-A45E-EF39-1BB08EE68C39}"/>
              </a:ext>
            </a:extLst>
          </p:cNvPr>
          <p:cNvSpPr txBox="1"/>
          <p:nvPr/>
        </p:nvSpPr>
        <p:spPr>
          <a:xfrm>
            <a:off x="6017489" y="3884864"/>
            <a:ext cx="664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YES</a:t>
            </a:r>
            <a:endParaRPr lang="en-US" sz="1600" b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45E211A-0AA1-6D80-975E-BBD0E373E7ED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3133417" y="4113631"/>
            <a:ext cx="929422" cy="5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932DB31E-1344-61C7-2DF1-CE231761DE41}"/>
              </a:ext>
            </a:extLst>
          </p:cNvPr>
          <p:cNvSpPr/>
          <p:nvPr/>
        </p:nvSpPr>
        <p:spPr>
          <a:xfrm>
            <a:off x="4337832" y="957185"/>
            <a:ext cx="1275126" cy="520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In-review</a:t>
            </a: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E03748A0-197E-B90C-D191-DF6AA3A61684}"/>
              </a:ext>
            </a:extLst>
          </p:cNvPr>
          <p:cNvSpPr/>
          <p:nvPr/>
        </p:nvSpPr>
        <p:spPr>
          <a:xfrm>
            <a:off x="4062839" y="3529138"/>
            <a:ext cx="1830076" cy="1168986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Have all the review findings closed?</a:t>
            </a: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12C1875B-A64F-61D2-792E-44B62EFA3BFE}"/>
              </a:ext>
            </a:extLst>
          </p:cNvPr>
          <p:cNvSpPr/>
          <p:nvPr/>
        </p:nvSpPr>
        <p:spPr>
          <a:xfrm>
            <a:off x="4058284" y="1897548"/>
            <a:ext cx="1830076" cy="1168986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Is review completed by all the reviewers?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61CF0A8-5E87-295A-3015-1045F325433C}"/>
              </a:ext>
            </a:extLst>
          </p:cNvPr>
          <p:cNvCxnSpPr>
            <a:stCxn id="4" idx="2"/>
            <a:endCxn id="59" idx="0"/>
          </p:cNvCxnSpPr>
          <p:nvPr/>
        </p:nvCxnSpPr>
        <p:spPr>
          <a:xfrm>
            <a:off x="4975395" y="557541"/>
            <a:ext cx="0" cy="399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32345E0-4763-D77F-11A0-6334A6B6D656}"/>
              </a:ext>
            </a:extLst>
          </p:cNvPr>
          <p:cNvCxnSpPr>
            <a:stCxn id="59" idx="2"/>
            <a:endCxn id="62" idx="0"/>
          </p:cNvCxnSpPr>
          <p:nvPr/>
        </p:nvCxnSpPr>
        <p:spPr>
          <a:xfrm flipH="1">
            <a:off x="4973322" y="1477302"/>
            <a:ext cx="2073" cy="420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82D2AA-A500-24FD-79E3-DC0769A2F538}"/>
              </a:ext>
            </a:extLst>
          </p:cNvPr>
          <p:cNvCxnSpPr>
            <a:stCxn id="62" idx="2"/>
            <a:endCxn id="61" idx="0"/>
          </p:cNvCxnSpPr>
          <p:nvPr/>
        </p:nvCxnSpPr>
        <p:spPr>
          <a:xfrm>
            <a:off x="4973322" y="3066534"/>
            <a:ext cx="4555" cy="462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D024F39-5A51-66A8-6622-F73A69D41D04}"/>
              </a:ext>
            </a:extLst>
          </p:cNvPr>
          <p:cNvSpPr txBox="1"/>
          <p:nvPr/>
        </p:nvSpPr>
        <p:spPr>
          <a:xfrm>
            <a:off x="3397022" y="3884863"/>
            <a:ext cx="59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</a:t>
            </a: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F997BC08-255C-DDB2-95DF-8B48DCC71BAA}"/>
              </a:ext>
            </a:extLst>
          </p:cNvPr>
          <p:cNvCxnSpPr>
            <a:stCxn id="62" idx="1"/>
            <a:endCxn id="59" idx="1"/>
          </p:cNvCxnSpPr>
          <p:nvPr/>
        </p:nvCxnSpPr>
        <p:spPr>
          <a:xfrm rot="10800000" flipH="1">
            <a:off x="4058284" y="1217245"/>
            <a:ext cx="279548" cy="1264797"/>
          </a:xfrm>
          <a:prstGeom prst="bentConnector3">
            <a:avLst>
              <a:gd name="adj1" fmla="val -1802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E99730F-71C8-25CB-22F6-2EF406C98A9B}"/>
              </a:ext>
            </a:extLst>
          </p:cNvPr>
          <p:cNvSpPr txBox="1"/>
          <p:nvPr/>
        </p:nvSpPr>
        <p:spPr>
          <a:xfrm>
            <a:off x="4554658" y="3051863"/>
            <a:ext cx="6976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YES</a:t>
            </a:r>
            <a:endParaRPr lang="en-US" sz="16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870A8F-06AE-84E0-4A13-70FD54F94714}"/>
              </a:ext>
            </a:extLst>
          </p:cNvPr>
          <p:cNvSpPr txBox="1"/>
          <p:nvPr/>
        </p:nvSpPr>
        <p:spPr>
          <a:xfrm>
            <a:off x="3699429" y="2443641"/>
            <a:ext cx="59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E68BCBA-3075-2CEA-3F18-61082F3E842A}"/>
              </a:ext>
            </a:extLst>
          </p:cNvPr>
          <p:cNvSpPr txBox="1"/>
          <p:nvPr/>
        </p:nvSpPr>
        <p:spPr>
          <a:xfrm>
            <a:off x="5003304" y="565845"/>
            <a:ext cx="3399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(After self-review, </a:t>
            </a:r>
          </a:p>
          <a:p>
            <a:r>
              <a:rPr lang="en-US" sz="1000" dirty="0"/>
              <a:t>author will initiate review)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7AC8C-DF69-5F56-689C-0E7708EF1470}"/>
              </a:ext>
            </a:extLst>
          </p:cNvPr>
          <p:cNvSpPr txBox="1"/>
          <p:nvPr/>
        </p:nvSpPr>
        <p:spPr>
          <a:xfrm>
            <a:off x="10161097" y="5810339"/>
            <a:ext cx="15377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State in Polarion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D237C-31F2-FA8C-B366-D9BA27C1D302}"/>
              </a:ext>
            </a:extLst>
          </p:cNvPr>
          <p:cNvSpPr txBox="1"/>
          <p:nvPr/>
        </p:nvSpPr>
        <p:spPr>
          <a:xfrm>
            <a:off x="4984452" y="3089335"/>
            <a:ext cx="2629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(Reviewer has provided </a:t>
            </a:r>
          </a:p>
          <a:p>
            <a:r>
              <a:rPr lang="en-US" sz="1000" dirty="0"/>
              <a:t>some review findings)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B519C28-7539-867C-33FC-4CC95A4E0B5A}"/>
              </a:ext>
            </a:extLst>
          </p:cNvPr>
          <p:cNvSpPr/>
          <p:nvPr/>
        </p:nvSpPr>
        <p:spPr>
          <a:xfrm>
            <a:off x="9855004" y="6078989"/>
            <a:ext cx="290260" cy="214144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D015C-BEEB-C529-33EE-D219FC119553}"/>
              </a:ext>
            </a:extLst>
          </p:cNvPr>
          <p:cNvSpPr txBox="1"/>
          <p:nvPr/>
        </p:nvSpPr>
        <p:spPr>
          <a:xfrm>
            <a:off x="10161097" y="6049135"/>
            <a:ext cx="1358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Decisions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BC78F9-017C-9A50-F2F8-BE2143C47B4B}"/>
              </a:ext>
            </a:extLst>
          </p:cNvPr>
          <p:cNvSpPr/>
          <p:nvPr/>
        </p:nvSpPr>
        <p:spPr>
          <a:xfrm>
            <a:off x="6566449" y="71881"/>
            <a:ext cx="5406725" cy="2002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/>
          </a:p>
          <a:p>
            <a:endParaRPr lang="en-US" sz="1050" b="1" u="sng" dirty="0"/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Draft to In-review: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Documents/REQ shall be drafted with clear &amp; concise language.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Follow IAST format &amp; style (for document)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Share for review to finalize the document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Document/ REQ shall be baselined before initiating  for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Before initiating for review, it shall be self-reviewed  (all attributes, links, spell checks)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Once self-review done, update the checklist and upload checklist to appropriate location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While sending for review request all the reviewers with some timeline &amp; have evidence (via mail)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Change work items status to ” In-review”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Assign approval to Team Lead, Project Manager, Quality  Engineer, Safety Manager, Cross-functional team can approve (3 approvers) in </a:t>
            </a:r>
            <a:r>
              <a:rPr lang="en-US" sz="900" dirty="0" err="1">
                <a:solidFill>
                  <a:schemeClr val="tx1"/>
                </a:solidFill>
              </a:rPr>
              <a:t>Polarion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FF0000"/>
                </a:solidFill>
              </a:rPr>
              <a:t>[PM] How all these approvers can be added? Because if you just take an example of REQ. one document has n number of requirements and to take approval from all the above-mentioned approver’s , it will delay. </a:t>
            </a:r>
          </a:p>
          <a:p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EE2E32-A08F-141E-8E06-9C82990611BC}"/>
              </a:ext>
            </a:extLst>
          </p:cNvPr>
          <p:cNvSpPr/>
          <p:nvPr/>
        </p:nvSpPr>
        <p:spPr>
          <a:xfrm>
            <a:off x="6559121" y="2252803"/>
            <a:ext cx="2629269" cy="12320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/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In-review to Approved: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Once work item has been accepted, then approver need to approve it &amp; they must provide the rationale while approving 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Once all the approver approved the work item then status of the work item in Polarion will change  automatically.</a:t>
            </a:r>
          </a:p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23F56F-3ABE-88E4-FAE4-5C897EFC7EED}"/>
              </a:ext>
            </a:extLst>
          </p:cNvPr>
          <p:cNvSpPr/>
          <p:nvPr/>
        </p:nvSpPr>
        <p:spPr>
          <a:xfrm>
            <a:off x="262080" y="297953"/>
            <a:ext cx="3015123" cy="1944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/>
          </a:p>
          <a:p>
            <a:endParaRPr lang="en-US" sz="1050" b="1" u="sng" dirty="0"/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In-review to Rework:</a:t>
            </a:r>
            <a:endParaRPr lang="en-US" sz="9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Reviewer shall give all the review findings in review record template or in Polarion or via mail based on the project need.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Once review findings has been updated, reviewer need to inform the author.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If review findings provided via mail by reviewer,  then the author shall document all the review findings in review record template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u="sng" dirty="0">
                <a:solidFill>
                  <a:srgbClr val="FF0000"/>
                </a:solidFill>
              </a:rPr>
              <a:t>[Pm] Author must change the work item status as per the workflow defined in the project</a:t>
            </a:r>
          </a:p>
          <a:p>
            <a:endParaRPr lang="en-US" sz="900" dirty="0"/>
          </a:p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739952-1F47-089D-59F5-6490FD9F1308}"/>
              </a:ext>
            </a:extLst>
          </p:cNvPr>
          <p:cNvSpPr/>
          <p:nvPr/>
        </p:nvSpPr>
        <p:spPr>
          <a:xfrm>
            <a:off x="585095" y="2291064"/>
            <a:ext cx="2297368" cy="1489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/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Rework to In-review): </a:t>
            </a:r>
            <a:endParaRPr lang="en-US" sz="9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Once author fixed all the findings, the status of work item shall be changed to “In-review”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Inform all the reviewer to verify the review findings.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Close all the review findings after reviewer’s consensus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31E4A0-C7E0-CBAD-5CEF-8179F0FDF7B2}"/>
              </a:ext>
            </a:extLst>
          </p:cNvPr>
          <p:cNvSpPr/>
          <p:nvPr/>
        </p:nvSpPr>
        <p:spPr>
          <a:xfrm>
            <a:off x="9348051" y="2134893"/>
            <a:ext cx="2629269" cy="13942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>
              <a:solidFill>
                <a:schemeClr val="accent5"/>
              </a:solidFill>
            </a:endParaRPr>
          </a:p>
          <a:p>
            <a:endParaRPr lang="en-US" sz="1050" b="1" u="sng" dirty="0">
              <a:solidFill>
                <a:schemeClr val="accent5"/>
              </a:solidFill>
            </a:endParaRPr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Approved to Released: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After work item has been approved by all the reviewers as well as by Quality Team, the Author/ Module Owner </a:t>
            </a:r>
            <a:r>
              <a:rPr lang="en-U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shall create release note &amp; share it to Project Manager/Team Lead via mail, once the Project Manager/Team Lead approved then the Module Owner shall update Polarion Status as “Released” State</a:t>
            </a:r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4C3A34-C093-CF82-AA7F-548D53638D31}"/>
              </a:ext>
            </a:extLst>
          </p:cNvPr>
          <p:cNvSpPr/>
          <p:nvPr/>
        </p:nvSpPr>
        <p:spPr>
          <a:xfrm>
            <a:off x="9820705" y="6358090"/>
            <a:ext cx="358858" cy="2141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821EA3-2760-7FB6-6D30-D074E5F307EF}"/>
              </a:ext>
            </a:extLst>
          </p:cNvPr>
          <p:cNvSpPr txBox="1"/>
          <p:nvPr/>
        </p:nvSpPr>
        <p:spPr>
          <a:xfrm>
            <a:off x="10174494" y="6308892"/>
            <a:ext cx="1802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Guidelines for each phase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2995409-33D1-17F1-B0E8-0E62219663D0}"/>
              </a:ext>
            </a:extLst>
          </p:cNvPr>
          <p:cNvCxnSpPr>
            <a:endCxn id="13" idx="1"/>
          </p:cNvCxnSpPr>
          <p:nvPr/>
        </p:nvCxnSpPr>
        <p:spPr>
          <a:xfrm rot="16200000" flipH="1">
            <a:off x="6171125" y="4264344"/>
            <a:ext cx="783671" cy="5277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C722519-869E-23FF-CA1A-31A462210BD5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6165538" y="5045923"/>
            <a:ext cx="787166" cy="5354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B36EA3F-8526-B024-CDCB-283F188B2587}"/>
              </a:ext>
            </a:extLst>
          </p:cNvPr>
          <p:cNvCxnSpPr>
            <a:cxnSpLocks/>
          </p:cNvCxnSpPr>
          <p:nvPr/>
        </p:nvCxnSpPr>
        <p:spPr>
          <a:xfrm>
            <a:off x="3128066" y="4256560"/>
            <a:ext cx="10915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4934BEC-91C5-535A-3205-90F13BC0192C}"/>
              </a:ext>
            </a:extLst>
          </p:cNvPr>
          <p:cNvSpPr/>
          <p:nvPr/>
        </p:nvSpPr>
        <p:spPr>
          <a:xfrm>
            <a:off x="2875270" y="4889284"/>
            <a:ext cx="3127835" cy="12127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/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In-review to Rejected: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Requirement shall be Rejected at the ‘In-Review’ state due to various reason like, ‘Obsolete’, ‘Duplicate’, ‘Invalid’ and author must mention rationale for rejecting the requirement and move the requirement to ‘Rejected’ state in Polarion.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Follow Requirement Status Change flowchart</a:t>
            </a:r>
          </a:p>
          <a:p>
            <a:r>
              <a:rPr lang="en-US" sz="900" dirty="0">
                <a:solidFill>
                  <a:schemeClr val="tx1"/>
                </a:solidFill>
              </a:rPr>
              <a:t>        </a:t>
            </a:r>
            <a:r>
              <a:rPr lang="en-US" sz="900" dirty="0">
                <a:hlinkClick r:id="rId2"/>
              </a:rPr>
              <a:t>Requirement_Status_Change_Flowchart_2.0.pdf</a:t>
            </a:r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4BCB634-15C0-E32A-4EB2-45396D8A8CBC}"/>
              </a:ext>
            </a:extLst>
          </p:cNvPr>
          <p:cNvSpPr/>
          <p:nvPr/>
        </p:nvSpPr>
        <p:spPr>
          <a:xfrm>
            <a:off x="6470838" y="6140334"/>
            <a:ext cx="2297368" cy="51746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u="sng" dirty="0"/>
          </a:p>
          <a:p>
            <a:r>
              <a:rPr lang="en-US" sz="1050" b="1" u="sng" dirty="0">
                <a:solidFill>
                  <a:schemeClr val="accent5"/>
                </a:solidFill>
              </a:rPr>
              <a:t>Guidelines for Deferred/ On-hold</a:t>
            </a: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Depending on Project need, further actions can be taken.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290FC71-F07A-034B-21BC-103F142B51F1}"/>
              </a:ext>
            </a:extLst>
          </p:cNvPr>
          <p:cNvSpPr/>
          <p:nvPr/>
        </p:nvSpPr>
        <p:spPr>
          <a:xfrm>
            <a:off x="9802239" y="5866933"/>
            <a:ext cx="358858" cy="144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06310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59AEF028CCFD4D8B43CB48F87F595A" ma:contentTypeVersion="20" ma:contentTypeDescription="Create a new document." ma:contentTypeScope="" ma:versionID="c2e6e9f0ad56ac718bbbffd37f76cfe0">
  <xsd:schema xmlns:xsd="http://www.w3.org/2001/XMLSchema" xmlns:xs="http://www.w3.org/2001/XMLSchema" xmlns:p="http://schemas.microsoft.com/office/2006/metadata/properties" xmlns:ns2="ba43b1be-fe62-4076-a3ee-1cb3721217e3" xmlns:ns3="b1bb6565-0751-4763-9618-26f90953c77f" targetNamespace="http://schemas.microsoft.com/office/2006/metadata/properties" ma:root="true" ma:fieldsID="d0e861e518cb29ec61527653495cdc33" ns2:_="" ns3:_="">
    <xsd:import namespace="ba43b1be-fe62-4076-a3ee-1cb3721217e3"/>
    <xsd:import namespace="b1bb6565-0751-4763-9618-26f90953c77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Release_Status" minOccurs="0"/>
                <xsd:element ref="ns3:Decomposed_From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43b1be-fe62-4076-a3ee-1cb3721217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7804d20-1920-43b6-a62a-6e57227e9be7}" ma:internalName="TaxCatchAll" ma:showField="CatchAllData" ma:web="ba43b1be-fe62-4076-a3ee-1cb3721217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bb6565-0751-4763-9618-26f90953c7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354c929-4610-47ef-a3f4-94386881d7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Release_Status" ma:index="23" nillable="true" ma:displayName="Release_Status" ma:default="0" ma:description="This column defines if the document has been officially released or not" ma:format="Dropdown" ma:internalName="Release_Status">
      <xsd:simpleType>
        <xsd:restriction base="dms:Boolean"/>
      </xsd:simpleType>
    </xsd:element>
    <xsd:element name="Decomposed_From" ma:index="24" nillable="true" ma:displayName="Decomposed_From" ma:description="This column defines the link to the column from which the SRS is decomposed from" ma:format="Hyperlink" ma:internalName="Decomposed_From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composed_From xmlns="b1bb6565-0751-4763-9618-26f90953c77f">
      <Url xsi:nil="true"/>
      <Description xsi:nil="true"/>
    </Decomposed_From>
    <Release_Status xmlns="b1bb6565-0751-4763-9618-26f90953c77f">false</Release_Status>
    <lcf76f155ced4ddcb4097134ff3c332f xmlns="b1bb6565-0751-4763-9618-26f90953c77f">
      <Terms xmlns="http://schemas.microsoft.com/office/infopath/2007/PartnerControls"/>
    </lcf76f155ced4ddcb4097134ff3c332f>
    <TaxCatchAll xmlns="ba43b1be-fe62-4076-a3ee-1cb3721217e3" xsi:nil="true"/>
  </documentManagement>
</p:properties>
</file>

<file path=customXml/itemProps1.xml><?xml version="1.0" encoding="utf-8"?>
<ds:datastoreItem xmlns:ds="http://schemas.openxmlformats.org/officeDocument/2006/customXml" ds:itemID="{DDA5820C-95ED-4745-AE78-6AF14F5103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E7201D-BE54-49FF-9503-3FD8C56D8B80}">
  <ds:schemaRefs>
    <ds:schemaRef ds:uri="b1bb6565-0751-4763-9618-26f90953c77f"/>
    <ds:schemaRef ds:uri="ba43b1be-fe62-4076-a3ee-1cb3721217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F17E7A-82FC-4599-9EB6-8024FA807752}">
  <ds:schemaRefs>
    <ds:schemaRef ds:uri="http://www.w3.org/XML/1998/namespace"/>
    <ds:schemaRef ds:uri="http://purl.org/dc/elements/1.1/"/>
    <ds:schemaRef ds:uri="b1bb6565-0751-4763-9618-26f90953c77f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a43b1be-fe62-4076-a3ee-1cb3721217e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915</Words>
  <Application>Microsoft Office PowerPoint</Application>
  <PresentationFormat>Widescreen</PresentationFormat>
  <Paragraphs>80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Guidelines for Review Process Author Purvi Sahu Quality Engineer, Central Engineering Department</vt:lpstr>
      <vt:lpstr>Guideline for Review Process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Purvi  Sahu</dc:creator>
  <cp:lastModifiedBy>Prateeksha Motiram</cp:lastModifiedBy>
  <cp:revision>12</cp:revision>
  <dcterms:created xsi:type="dcterms:W3CDTF">2024-02-06T13:11:20Z</dcterms:created>
  <dcterms:modified xsi:type="dcterms:W3CDTF">2024-04-04T11:08:15Z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0x010100B859AEF028CCFD4D8B43CB48F87F595A</vt:lpwstr>
  </property>
  <property fmtid="{D5CDD505-2E9C-101B-9397-08002B2CF9AE}" pid="3" name="MediaServiceImageTags">
    <vt:lpwstr/>
  </property>
</Properties>
</file>