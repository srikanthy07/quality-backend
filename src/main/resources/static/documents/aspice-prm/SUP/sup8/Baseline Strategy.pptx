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authors.xml" ContentType="application/vnd.ms-powerpoint.author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308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F9FE63-DC99-11E3-F438-7FBFDB54B3D7}" name="Savitha M" initials="SM" userId="S::savitha.m@iast-software.com::dbc18cb0-0516-44f8-a078-fbe087b8943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B3DD"/>
    <a:srgbClr val="ABC7E7"/>
    <a:srgbClr val="DE5CDE"/>
    <a:srgbClr val="FAB97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1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55250-2507-4940-92E4-987D6F92EF2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9AB4F8-0042-4DF1-9F5B-23AA27E3A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F9531-3326-4057-9EBA-1F5D68C6F0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96BF-C2FE-5E79-518D-A7BAF2AF0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11F76F-0A17-D4DB-9F88-5A71DFFE9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6FED1-A0B9-58A3-969B-6B3CF90CB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1158-BF91-22BF-6E00-FAC452EE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8C29C-00AD-70A0-F4D9-A09F0750C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0AD3D-DB11-BE01-8EA3-D7794D0AF9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51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E349-C341-4237-5510-C05D6A2C8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6D23-1F50-56C2-A6AC-A2C3BBE32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AAA14-4E2B-DFCE-44B9-E4524659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CC9B8-C9B8-D83A-DF38-4D3571582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1CCA0-416F-4510-60C1-CC086E9C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A15B1D-F887-1A7A-7D72-80DE735790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90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BC47-8CAB-2EF8-0634-5150CA52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CD1E7-3D5A-DDE0-37EA-433C84885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AA936-CA58-31C3-7147-04D26D2EC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13044-E662-86CE-0DEA-17A90727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C5D2-25B3-4748-D36F-3D18AC23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366F3-B7DB-15C1-5354-9F9C0603E1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9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21FF-8021-0BDB-6AF9-3923F578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184D-5075-451C-AE99-F1FA47C5D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16302-A03E-59AF-D053-92511C9EC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D67BD-B679-0AA8-F9F3-0B6EB3F0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B48EE-1937-5952-7751-8C447B37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D5A4A-07D1-2E6C-EDD1-6D28281F9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8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28AD-7F4A-FD46-6EF0-3AC7D5B0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381B6-7D44-F8C6-9D5F-233CBD855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AEE64-6DEF-19BD-6820-DBF329629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368D1-825E-2731-F8F0-69600F903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5A7BE-5395-DA6C-DAF2-EAF7C043B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7EC4F-67B1-6B99-7799-3204293FD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4FBA3-54A7-99E0-FABA-E8879164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8B2658-E3C8-1795-10EE-B57BE6095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78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E279-2C32-4E18-7F2B-84E95BFC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57ACC-A72A-24D6-EB0F-86C05B70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5E363-4167-6855-220C-2B3658F6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0FFFB-5E21-9077-9056-5DABD99F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3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EA5A5-80E0-32CD-011C-B1814BD6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559CB8-4C3D-DD7F-BA64-E3F89B88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F8B9-061A-89A8-8A68-2133452A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8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B4A2-0B2E-BC67-B9AA-408014B6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6D4E0-E33A-765C-6434-F4991E0A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5B89B-EBA3-3529-AAEC-CB81B08B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E3CC2-5103-11D7-3B5D-0186F460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7B909-F9DD-750F-6269-9821C040A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A1BEF-074D-5B29-BC65-40FCA37B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06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C482-0DB9-ABC7-52CB-630006C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5EE4BE-876F-9634-7C51-550F2B230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319F1-C0EF-8670-5F37-B8C986FBB7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91416-87AA-3869-1E64-812841D5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B9D53-0F51-B1A8-EEDC-BA6A03F6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D3CD3-910D-6B76-7B92-C2D33385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79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8CF3-2447-9D59-DC63-A777C8BD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C92AC0-41A5-EA81-4A49-3280C4E3F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4490C-AEC0-1666-6E2A-16E72E353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27D75-3E30-B684-209C-D0771422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8EBEA-1D9C-808F-6136-2202D3EDA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7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499EA-4981-2307-91A3-CE4F64DBD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D9CEB6-314F-3946-2F49-262DEE6484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B9308-CBEF-FAE5-27DD-6FFE7815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54EA0-D806-DF60-37A8-7CCF6D4B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2C562-3E7C-1841-1763-59F264BA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37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DCC21-CDD1-4F71-BEA4-14CB2C645D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68"/>
            <a:ext cx="12191888" cy="6850800"/>
          </a:xfrm>
          <a:prstGeom prst="rect">
            <a:avLst/>
          </a:prstGeom>
        </p:spPr>
      </p:pic>
      <p:sp>
        <p:nvSpPr>
          <p:cNvPr id="10" name="Rectangle 9" hidden="1">
            <a:extLst>
              <a:ext uri="{FF2B5EF4-FFF2-40B4-BE49-F238E27FC236}">
                <a16:creationId xmlns:a16="http://schemas.microsoft.com/office/drawing/2014/main" id="{C6BF408C-A3FE-427A-BCAC-49F0BEAE4F3E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A991D7A-A48B-465E-9937-C66BC43F3B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550" y="3501000"/>
            <a:ext cx="5759450" cy="1703178"/>
          </a:xfrm>
        </p:spPr>
        <p:txBody>
          <a:bodyPr>
            <a:noAutofit/>
          </a:bodyPr>
          <a:lstStyle>
            <a:lvl1pPr marL="0" indent="0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Date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65040-5BDA-4405-B53B-23E35F213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1269000"/>
            <a:ext cx="11520000" cy="1800000"/>
          </a:xfrm>
        </p:spPr>
        <p:txBody>
          <a:bodyPr anchor="t"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PROJECT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416CF-2219-49E4-64AF-12926EFE54C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76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86F15-4CAD-0DF2-93B8-0E7895C7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11AC8-1EC2-BCAF-6236-3481B413F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17AFC-A347-61B1-8B89-0DBFABCE8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9D743-464F-4A93-A5A8-1B18FABD6FA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A998D-9BB3-D6CD-A6BB-3D8C73521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28AFB-E56C-E1F7-0FD1-A4BC46DBA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E7155-EA4B-4F2A-BADC-F0656ABE213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8394B-E4DA-D476-FDFB-FD176C5804A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43596" y="136525"/>
            <a:ext cx="1521105" cy="66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>
            <a:extLst>
              <a:ext uri="{FF2B5EF4-FFF2-40B4-BE49-F238E27FC236}">
                <a16:creationId xmlns:a16="http://schemas.microsoft.com/office/drawing/2014/main" id="{19AB89D0-8562-49A8-BAFA-01679A4CC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3754" y="2831340"/>
            <a:ext cx="9593446" cy="145930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Baseline Strategy</a:t>
            </a:r>
          </a:p>
        </p:txBody>
      </p:sp>
    </p:spTree>
    <p:extLst>
      <p:ext uri="{BB962C8B-B14F-4D97-AF65-F5344CB8AC3E}">
        <p14:creationId xmlns:p14="http://schemas.microsoft.com/office/powerpoint/2010/main" val="418240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C23ACBE4-EC2D-9467-1EFB-D96098B80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056" y="671690"/>
            <a:ext cx="6360775" cy="618631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43886-E797-E5F1-16AC-DD282E8283D8}"/>
              </a:ext>
            </a:extLst>
          </p:cNvPr>
          <p:cNvSpPr txBox="1"/>
          <p:nvPr/>
        </p:nvSpPr>
        <p:spPr>
          <a:xfrm>
            <a:off x="6808874" y="2579905"/>
            <a:ext cx="5383126" cy="23698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Internal Release Baseline Progression</a:t>
            </a:r>
          </a:p>
          <a:p>
            <a:r>
              <a:rPr lang="en-US" sz="1400" dirty="0"/>
              <a:t>- Functional Baseline (</a:t>
            </a:r>
            <a:r>
              <a:rPr lang="en-US" sz="1400" b="1" dirty="0"/>
              <a:t>FB</a:t>
            </a:r>
            <a:r>
              <a:rPr lang="en-US" sz="1400" dirty="0"/>
              <a:t>)</a:t>
            </a:r>
          </a:p>
          <a:p>
            <a:r>
              <a:rPr lang="en-US" sz="1400" dirty="0"/>
              <a:t>- Allocated Baseline (</a:t>
            </a:r>
            <a:r>
              <a:rPr lang="en-US" sz="1400" b="1" dirty="0"/>
              <a:t>AB</a:t>
            </a:r>
            <a:r>
              <a:rPr lang="en-US" sz="1400" dirty="0"/>
              <a:t>)</a:t>
            </a:r>
          </a:p>
          <a:p>
            <a:r>
              <a:rPr lang="en-US" sz="1400" dirty="0"/>
              <a:t>- Design Baseline (</a:t>
            </a:r>
            <a:r>
              <a:rPr lang="en-US" sz="1400" b="1" dirty="0"/>
              <a:t>DB</a:t>
            </a:r>
            <a:r>
              <a:rPr lang="en-US" sz="1400" dirty="0"/>
              <a:t>)</a:t>
            </a:r>
          </a:p>
          <a:p>
            <a:r>
              <a:rPr lang="en-US" sz="1400" dirty="0"/>
              <a:t>- Product Baseline / Project Baseline (</a:t>
            </a:r>
            <a:r>
              <a:rPr lang="en-US" sz="1400" b="1" dirty="0"/>
              <a:t>PB</a:t>
            </a:r>
            <a:r>
              <a:rPr lang="en-US" sz="1400" dirty="0"/>
              <a:t>)</a:t>
            </a:r>
          </a:p>
          <a:p>
            <a:r>
              <a:rPr lang="en-US" sz="1600" b="1" u="sng" dirty="0"/>
              <a:t>Naming Convention:</a:t>
            </a:r>
          </a:p>
          <a:p>
            <a:r>
              <a:rPr lang="en-US" sz="1400" dirty="0" err="1"/>
              <a:t>ProjectName_XX_FeatureName_Discipline_DDMMYYYY</a:t>
            </a:r>
            <a:endParaRPr lang="en-US" sz="1400" dirty="0"/>
          </a:p>
          <a:p>
            <a:endParaRPr lang="en-US" sz="1600" b="1" u="sng" dirty="0"/>
          </a:p>
          <a:p>
            <a:r>
              <a:rPr lang="en-US" sz="1600" b="1" u="sng" dirty="0"/>
              <a:t>Example:</a:t>
            </a:r>
          </a:p>
          <a:p>
            <a:r>
              <a:rPr lang="en-US" sz="1400" dirty="0"/>
              <a:t>BR01_FB_VMC_SYS_15122023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0DB4E-EE76-B6D1-854C-FCFA79093D21}"/>
              </a:ext>
            </a:extLst>
          </p:cNvPr>
          <p:cNvSpPr txBox="1"/>
          <p:nvPr/>
        </p:nvSpPr>
        <p:spPr>
          <a:xfrm>
            <a:off x="6808874" y="4949785"/>
            <a:ext cx="5383126" cy="1908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Customer/Platform Release Baseline</a:t>
            </a:r>
          </a:p>
          <a:p>
            <a:r>
              <a:rPr lang="en-US" sz="1400" dirty="0"/>
              <a:t>Project Container shall be created based on milestone and baseline all work-products</a:t>
            </a:r>
          </a:p>
          <a:p>
            <a:r>
              <a:rPr lang="en-US" sz="1600" b="1" u="sng" dirty="0"/>
              <a:t>Naming Convention:</a:t>
            </a:r>
          </a:p>
          <a:p>
            <a:r>
              <a:rPr lang="en-US" sz="1400" dirty="0" err="1"/>
              <a:t>ProjectName_CR</a:t>
            </a:r>
            <a:r>
              <a:rPr lang="en-US" sz="1400" dirty="0"/>
              <a:t>/</a:t>
            </a:r>
            <a:r>
              <a:rPr lang="en-US" sz="1400" dirty="0" err="1"/>
              <a:t>PL_Milestone_DDMMYYYY</a:t>
            </a:r>
            <a:endParaRPr lang="en-US" sz="1400" dirty="0"/>
          </a:p>
          <a:p>
            <a:endParaRPr lang="en-US" sz="1400" dirty="0"/>
          </a:p>
          <a:p>
            <a:r>
              <a:rPr lang="en-US" sz="1600" b="1" u="sng" dirty="0"/>
              <a:t>Example</a:t>
            </a:r>
          </a:p>
          <a:p>
            <a:r>
              <a:rPr lang="en-US" sz="1400" dirty="0"/>
              <a:t>Bootloader_PL_M1_21122023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9934B1-8226-2115-DD87-07F815303B3B}"/>
              </a:ext>
            </a:extLst>
          </p:cNvPr>
          <p:cNvSpPr txBox="1"/>
          <p:nvPr/>
        </p:nvSpPr>
        <p:spPr>
          <a:xfrm>
            <a:off x="6808874" y="671690"/>
            <a:ext cx="5383126" cy="190821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Review Rework Baseline</a:t>
            </a:r>
          </a:p>
          <a:p>
            <a:r>
              <a:rPr lang="en-US" sz="1400" dirty="0"/>
              <a:t>Project team members shall always baseline their work-products before sending for review and after closure of all review.</a:t>
            </a:r>
          </a:p>
          <a:p>
            <a:r>
              <a:rPr lang="en-US" sz="1600" b="1" u="sng" dirty="0"/>
              <a:t>Naming Convention:</a:t>
            </a:r>
          </a:p>
          <a:p>
            <a:r>
              <a:rPr lang="en-US" sz="1400" dirty="0" err="1"/>
              <a:t>ProjectName_RVW</a:t>
            </a:r>
            <a:r>
              <a:rPr lang="en-US" sz="1400" dirty="0"/>
              <a:t>/</a:t>
            </a:r>
            <a:r>
              <a:rPr lang="en-US" sz="1400" dirty="0" err="1"/>
              <a:t>RWK_FeatureName_Phase_DDMMYYYY</a:t>
            </a:r>
            <a:endParaRPr lang="en-US" sz="1400" dirty="0"/>
          </a:p>
          <a:p>
            <a:endParaRPr lang="en-US" sz="1400" dirty="0"/>
          </a:p>
          <a:p>
            <a:r>
              <a:rPr lang="en-US" sz="1600" b="1" u="sng" dirty="0"/>
              <a:t>Example</a:t>
            </a:r>
          </a:p>
          <a:p>
            <a:r>
              <a:rPr lang="en-US" sz="1400" dirty="0"/>
              <a:t>BR01_RWK_PORT_SWE.1_05012024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74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2C5818-A52A-9E79-055B-64EB674CD475}"/>
              </a:ext>
            </a:extLst>
          </p:cNvPr>
          <p:cNvSpPr/>
          <p:nvPr/>
        </p:nvSpPr>
        <p:spPr>
          <a:xfrm>
            <a:off x="3564844" y="2505670"/>
            <a:ext cx="38050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8951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59AEF028CCFD4D8B43CB48F87F595A" ma:contentTypeVersion="21" ma:contentTypeDescription="Create a new document." ma:contentTypeScope="" ma:versionID="3fd6dc3f7e9af2d78fd0fe5e8ee98d53">
  <xsd:schema xmlns:xsd="http://www.w3.org/2001/XMLSchema" xmlns:xs="http://www.w3.org/2001/XMLSchema" xmlns:p="http://schemas.microsoft.com/office/2006/metadata/properties" xmlns:ns2="ba43b1be-fe62-4076-a3ee-1cb3721217e3" xmlns:ns3="b1bb6565-0751-4763-9618-26f90953c77f" targetNamespace="http://schemas.microsoft.com/office/2006/metadata/properties" ma:root="true" ma:fieldsID="819929d8de0b016ba1bb29107e810933" ns2:_="" ns3:_="">
    <xsd:import namespace="ba43b1be-fe62-4076-a3ee-1cb3721217e3"/>
    <xsd:import namespace="b1bb6565-0751-4763-9618-26f90953c77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Release_Status" minOccurs="0"/>
                <xsd:element ref="ns3:Decomposed_From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43b1be-fe62-4076-a3ee-1cb3721217e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7804d20-1920-43b6-a62a-6e57227e9be7}" ma:internalName="TaxCatchAll" ma:showField="CatchAllData" ma:web="ba43b1be-fe62-4076-a3ee-1cb3721217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b6565-0751-4763-9618-26f90953c7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9354c929-4610-47ef-a3f4-94386881d7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Release_Status" ma:index="23" nillable="true" ma:displayName="Release_Status" ma:default="0" ma:description="This column defines if the document has been officially released or not" ma:format="Dropdown" ma:internalName="Release_Status">
      <xsd:simpleType>
        <xsd:restriction base="dms:Boolean"/>
      </xsd:simpleType>
    </xsd:element>
    <xsd:element name="Decomposed_From" ma:index="24" nillable="true" ma:displayName="Decomposed_From" ma:description="This column defines the link to the column from which the SRS is decomposed from" ma:format="Hyperlink" ma:internalName="Decomposed_From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composed_From xmlns="b1bb6565-0751-4763-9618-26f90953c77f">
      <Url xsi:nil="true"/>
      <Description xsi:nil="true"/>
    </Decomposed_From>
    <Release_Status xmlns="b1bb6565-0751-4763-9618-26f90953c77f">false</Release_Status>
    <lcf76f155ced4ddcb4097134ff3c332f xmlns="b1bb6565-0751-4763-9618-26f90953c77f">
      <Terms xmlns="http://schemas.microsoft.com/office/infopath/2007/PartnerControls"/>
    </lcf76f155ced4ddcb4097134ff3c332f>
    <TaxCatchAll xmlns="ba43b1be-fe62-4076-a3ee-1cb3721217e3" xsi:nil="true"/>
  </documentManagement>
</p:properties>
</file>

<file path=customXml/itemProps1.xml><?xml version="1.0" encoding="utf-8"?>
<ds:datastoreItem xmlns:ds="http://schemas.openxmlformats.org/officeDocument/2006/customXml" ds:itemID="{7AD747FC-CD79-4116-97C6-8F058873F8D9}"/>
</file>

<file path=customXml/itemProps2.xml><?xml version="1.0" encoding="utf-8"?>
<ds:datastoreItem xmlns:ds="http://schemas.openxmlformats.org/officeDocument/2006/customXml" ds:itemID="{A57534FB-B1ED-49FA-B269-F4265DA18529}"/>
</file>

<file path=customXml/itemProps3.xml><?xml version="1.0" encoding="utf-8"?>
<ds:datastoreItem xmlns:ds="http://schemas.openxmlformats.org/officeDocument/2006/customXml" ds:itemID="{34B7DEF4-43A4-45A9-9039-8A203E2E9BDF}"/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140</Words>
  <Application>Microsoft Office PowerPoint</Application>
  <PresentationFormat>Widescreen</PresentationFormat>
  <Paragraphs>27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Baseline Strategy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Risk Management</dc:title>
  <dc:creator>Dinesh Sharma</dc:creator>
  <cp:lastModifiedBy>Purvi  Sahu</cp:lastModifiedBy>
  <cp:revision>9</cp:revision>
  <dcterms:created xsi:type="dcterms:W3CDTF">2023-04-14T09:17:25Z</dcterms:created>
  <dcterms:modified xsi:type="dcterms:W3CDTF">2026-06-12T13:26:14Z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0x010100B859AEF028CCFD4D8B43CB48F87F595A</vt:lpwstr>
  </property>
</Properties>
</file>